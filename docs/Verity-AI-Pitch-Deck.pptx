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27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777240"/>
            <a:ext cx="1371600" cy="1371600"/>
          </a:xfrm>
          <a:prstGeom prst="ellipse">
            <a:avLst/>
          </a:prstGeom>
          <a:solidFill>
            <a:srgbClr val="161D3F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3" name="Image 0" descr="./icons/shield-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556" y="955548"/>
            <a:ext cx="1014984" cy="10149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33172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AI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914400" y="333756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truth: </a:t>
            </a: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teacher's material</a:t>
            </a:r>
            <a:r>
              <a:rPr lang="en-US" sz="2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 </a:t>
            </a:r>
            <a:r>
              <a:rPr lang="en-US" sz="2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student's language</a:t>
            </a:r>
            <a:r>
              <a:rPr lang="en-US" sz="2200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1600" y="39776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closed-corpus AI learning platform for ESL students at IB &amp; Cambridge international schools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Hackathon 2026   •   </a:t>
            </a: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esltech.vercel.app</a:t>
            </a: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github.com/usermanoj/verity-ai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in a second language is a double burden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777240" cy="777240"/>
          </a:xfrm>
          <a:prstGeom prst="ellipse">
            <a:avLst/>
          </a:prstGeom>
          <a:solidFill>
            <a:srgbClr val="161D3F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5" name="Image 0" descr="./icons/userx-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" y="202128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901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226771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either does the homework for them or answers in unpredictable English pulled from the open internet — sometimes contradicting exactly what the syllabus teaches.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777240" cy="777240"/>
          </a:xfrm>
          <a:prstGeom prst="ellipse">
            <a:avLst/>
          </a:prstGeom>
          <a:solidFill>
            <a:srgbClr val="161D3F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9" name="Image 1" descr="./icons/eyeoff-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21" y="3530041"/>
            <a:ext cx="575158" cy="5751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410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91640" y="377647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today is a binary: ban it and lose the benefit, or allow it and lose all visibility into whether students are actually learning or just copy-pasting.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937760"/>
            <a:ext cx="777240" cy="777240"/>
          </a:xfrm>
          <a:prstGeom prst="ellipse">
            <a:avLst/>
          </a:prstGeom>
          <a:solidFill>
            <a:srgbClr val="161D3F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3" name="Image 2" descr="./icons/alert-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" y="5038801"/>
            <a:ext cx="575158" cy="5751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919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leadership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91640" y="528523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data-driven way to see department- or school-wide patterns in ESL support effectiveness — resourcing decisions get made on instinct, not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AI, three guarantees no generic chatbot can make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868680" cy="86868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./icons/lock-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328" y="2444648"/>
            <a:ext cx="642823" cy="6428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832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Closed-corpus, cited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9319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comes only from the teacher's approved material — never the open internet — with an exact source citation, every time.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4754880" y="2331720"/>
            <a:ext cx="868680" cy="86868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1" name="Image 1" descr="./icons/globe-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7808" y="2444648"/>
            <a:ext cx="642823" cy="6428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3832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by design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09160" y="39319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and translates into a student's own language — Chinese (Mandarin, Simplified) live today, Korean, Malay, and Tamil next.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29600" y="196596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Shape 11"/>
          <p:cNvSpPr/>
          <p:nvPr/>
        </p:nvSpPr>
        <p:spPr>
          <a:xfrm>
            <a:off x="8595360" y="2331720"/>
            <a:ext cx="868680" cy="86868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6" name="Image 2" descr="./icons/check-p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8288" y="2444648"/>
            <a:ext cx="642823" cy="64282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3832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Guides, never cheats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49640" y="39319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and asks guiding questions instead of handing over answers — academic integrity built into the architecture, not a policy afterthought.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tutor, five ways to learn — no prompting required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248156" y="1965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./icons/zap-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10" y="205511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834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the concept step by step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98064" y="169164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3497580" y="1965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1" name="Image 1" descr="./icons/grid-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734" y="205511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07792" y="2834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Example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07792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one worked example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47488" y="169164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Shape 11"/>
          <p:cNvSpPr/>
          <p:nvPr/>
        </p:nvSpPr>
        <p:spPr>
          <a:xfrm>
            <a:off x="5747004" y="1965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6" name="Image 2" descr="./icons/help-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6158" y="205511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57216" y="2834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 Questions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157216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— one question at a time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296912" y="169164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0" name="Shape 15"/>
          <p:cNvSpPr/>
          <p:nvPr/>
        </p:nvSpPr>
        <p:spPr>
          <a:xfrm>
            <a:off x="7996428" y="1965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1" name="Image 3" descr="./icons/checksquare-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5582" y="205511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2834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My Answer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06640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Hints, never the final answer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546336" y="169164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5" name="Shape 19"/>
          <p:cNvSpPr/>
          <p:nvPr/>
        </p:nvSpPr>
        <p:spPr>
          <a:xfrm>
            <a:off x="10245852" y="1965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6" name="Image 4" descr="./icons/globe-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5006" y="2055114"/>
            <a:ext cx="507492" cy="5074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56064" y="2834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656064" y="32918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student's own language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conversational memory: the tutor threads full history so it genuinely remembers what it already explained — no repetition, real back-and-forth.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5029200"/>
            <a:ext cx="640080" cy="640080"/>
          </a:xfrm>
          <a:prstGeom prst="ellipse">
            <a:avLst/>
          </a:prstGeom>
          <a:solidFill>
            <a:srgbClr val="161D3F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31" name="Image 5" descr="./icons/target-p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850" y="5112410"/>
            <a:ext cx="473659" cy="47365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371600" y="50109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Drag-and-feel physics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1371600" y="53218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seesaw simulation makes moments of a force tangible — drag weights, watch clockwise/anticlockwise balance live.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263640" y="5029200"/>
            <a:ext cx="640080" cy="640080"/>
          </a:xfrm>
          <a:prstGeom prst="ellipse">
            <a:avLst/>
          </a:prstGeom>
          <a:solidFill>
            <a:srgbClr val="161D3F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35" name="Image 6" descr="./icons/trending-pi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6850" y="5112410"/>
            <a:ext cx="473659" cy="473659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086600" y="501091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distance-time graphs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7086600" y="53218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scrubbable journey graph syncs a moving figure to its own distance-time plot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INNOVATION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by architecture, not by add-on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./icons/database-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205511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47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Vectorless, long-context RAG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bounded class corpus, the full approved material is injected directly into context — no embedding drift, maximum accuracy at classroom scale.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6537960" y="1965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1" name="Image 1" descr="./icons/cpu-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114" y="205511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947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+ probabilistic hybrid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37960" y="2697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and multiple-choice are graded by rule-based code, unit-tested. The LLM is reserved only for explanation, questions, and translation.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Shape 11"/>
          <p:cNvSpPr/>
          <p:nvPr/>
        </p:nvSpPr>
        <p:spPr>
          <a:xfrm>
            <a:off x="822960" y="4251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6" name="Image 2" descr="./icons/repeat-p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114" y="434111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33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conversational memory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" y="4983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threads on every turn so the tutor genuinely remembers what it already said — no repetition, real Socratic back-and-forth.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0" name="Shape 15"/>
          <p:cNvSpPr/>
          <p:nvPr/>
        </p:nvSpPr>
        <p:spPr>
          <a:xfrm>
            <a:off x="6537960" y="4251960"/>
            <a:ext cx="685800" cy="68580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1" name="Image 3" descr="./icons/globe-indi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114" y="434111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33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Corpus-grounded translation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37960" y="4983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translation ties to the exact approved-material chunk it came from — provably the same lesson, not a generic bilingual guess.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one closed-corpus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440180" y="2286000"/>
            <a:ext cx="822960" cy="82296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./icons/user-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165" y="239298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37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38404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with a guided AI tutor, in their own language.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10712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4302252" y="2286000"/>
            <a:ext cx="822960" cy="82296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1" name="Image 1" descr="./icons/users-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237" y="239298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3337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39312" y="38404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 into every AI conversation and class-wide progress.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72784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Shape 11"/>
          <p:cNvSpPr/>
          <p:nvPr/>
        </p:nvSpPr>
        <p:spPr>
          <a:xfrm>
            <a:off x="7164324" y="2286000"/>
            <a:ext cx="822960" cy="82296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6" name="Image 2" descr="./icons/barchart-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1309" y="2392985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3337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501384" y="38404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Department-level rollups across sections and teachers.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34856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0" name="Shape 15"/>
          <p:cNvSpPr/>
          <p:nvPr/>
        </p:nvSpPr>
        <p:spPr>
          <a:xfrm>
            <a:off x="10026396" y="2286000"/>
            <a:ext cx="822960" cy="82296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1" name="Image 3" descr="./icons/home-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3381" y="2392985"/>
            <a:ext cx="608990" cy="6089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3337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363456" y="38404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School-wide completion, engagement, and ESL-improvement dashboards.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PROGRESS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today. Expanding fast.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0" y="2212848"/>
            <a:ext cx="8138160" cy="0"/>
          </a:xfrm>
          <a:prstGeom prst="line">
            <a:avLst/>
          </a:prstGeom>
          <a:noFill/>
          <a:ln w="12700">
            <a:solidFill>
              <a:srgbClr val="9AA6C4"/>
            </a:solidFill>
            <a:prstDash val="dash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1883664" y="1828800"/>
            <a:ext cx="256032" cy="25603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(Mandarin, Simplified)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64024" y="1828800"/>
            <a:ext cx="256032" cy="256032"/>
          </a:xfrm>
          <a:prstGeom prst="ellipse">
            <a:avLst/>
          </a:prstGeom>
          <a:solidFill>
            <a:srgbClr val="9AA6C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37033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44384" y="1828800"/>
            <a:ext cx="256032" cy="256032"/>
          </a:xfrm>
          <a:prstGeom prst="ellipse">
            <a:avLst/>
          </a:prstGeom>
          <a:solidFill>
            <a:srgbClr val="9AA6C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658368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524744" y="1828800"/>
            <a:ext cx="256032" cy="256032"/>
          </a:xfrm>
          <a:prstGeom prst="ellipse">
            <a:avLst/>
          </a:prstGeom>
          <a:solidFill>
            <a:srgbClr val="9AA6C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946404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6404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A2350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85800" y="5074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topics live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3977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A2350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3410712" y="42062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9/9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3547872" y="5074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tests passing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72784" y="3977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A2350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6272784" y="42062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6409944" y="5074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34856" y="3977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A2350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9134856" y="42062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9272016" y="5074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cited to source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teacher material upload with auto-question generation · Supabase auth &amp; persistence · additional subjects · native iPad app.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built into the architecture itself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943600" cy="4114800"/>
          </a:xfrm>
          <a:prstGeom prst="roundRect">
            <a:avLst>
              <a:gd name="adj" fmla="val 2667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594360" cy="59436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7" name="Image 0" descr="./icons/dollar-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47" y="2500427"/>
            <a:ext cx="439826" cy="4398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40487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site license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00200" y="271576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annual license sold to schools, $15–40 per student/year — tiered Student / Teacher / School-wide.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474720"/>
            <a:ext cx="594360" cy="59436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1" name="Image 1" descr="./icons/trending-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47" y="355198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4564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packs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600200" y="376732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language packs (Korean, Malay, Tamil+) and subject packs beyond Physics, sold as premium add-ons.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68680" y="4526280"/>
            <a:ext cx="594360" cy="59436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5" name="Image 2" descr="./icons/briefcase-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947" y="4603547"/>
            <a:ext cx="439826" cy="4398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5079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revenue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600200" y="481888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PD workshops on AI-assisted ESL instruction; anonymized benchmarking insights for school networks.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720840" y="1691640"/>
            <a:ext cx="4937760" cy="4114800"/>
          </a:xfrm>
          <a:prstGeom prst="roundRect">
            <a:avLst>
              <a:gd name="adj" fmla="val 2667"/>
            </a:avLst>
          </a:prstGeom>
          <a:solidFill>
            <a:srgbClr val="1A2350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9" name="Shape 14"/>
          <p:cNvSpPr/>
          <p:nvPr/>
        </p:nvSpPr>
        <p:spPr>
          <a:xfrm>
            <a:off x="7040880" y="2011680"/>
            <a:ext cx="685800" cy="685800"/>
          </a:xfrm>
          <a:prstGeom prst="ellipse">
            <a:avLst/>
          </a:prstGeom>
          <a:solidFill>
            <a:srgbClr val="161D3F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0" name="Image 3" descr="./icons/layers-p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0034" y="2100834"/>
            <a:ext cx="507492" cy="5074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63840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economics work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040880" y="292608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hybrid AI architecture that makes answers trustworthy also controls cost — deterministic grading skips the LLM entirely wherever a number or multiple-choice answer can be rule-checked, and cheaper models plus prompt caching absorb high-volume routine tasks.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040880" y="43434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$300–900</a:t>
            </a:r>
            <a:endParaRPr lang="en-US" sz="3400" dirty="0"/>
          </a:p>
        </p:txBody>
      </p:sp>
      <p:sp>
        <p:nvSpPr>
          <p:cNvPr id="24" name="Text 18"/>
          <p:cNvSpPr/>
          <p:nvPr/>
        </p:nvSpPr>
        <p:spPr>
          <a:xfrm>
            <a:off x="7040880" y="5029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monthly cost, ~200-student pilot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founder who has </a:t>
            </a:r>
            <a:r>
              <a:rPr lang="en-US" sz="2800" b="1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25+ </a:t>
            </a:r>
            <a:r>
              <a:rPr lang="en-US" sz="2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systems trustworthy at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3566160"/>
          </a:xfrm>
          <a:prstGeom prst="roundRect">
            <a:avLst>
              <a:gd name="adj" fmla="val 3077"/>
            </a:avLst>
          </a:prstGeom>
          <a:solidFill>
            <a:srgbClr val="161D3F"/>
          </a:solidFill>
          <a:ln/>
          <a:effectLst>
            <a:outerShdw blurRad="1270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914400" y="2468880"/>
            <a:ext cx="1051560" cy="1051560"/>
          </a:xfrm>
          <a:prstGeom prst="ellipse">
            <a:avLst/>
          </a:prstGeom>
          <a:solidFill>
            <a:srgbClr val="1A2350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./icons/briefcase-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103" y="2605583"/>
            <a:ext cx="778154" cy="778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514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Bhardwaj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19456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Builder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in enterprise banking technology at global financial institutions — building systems that must be correct, auditable, and trusted at scale.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4526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founder of </a:t>
            </a: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Dhari AI</a:t>
            </a: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(dhari.ai), building production-grade reasoning agents for regulated institutions with banking-grade rigor. Verity AI applies that same discipline to ESL education: AI that is accountable and verifiable by design.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914400"/>
            <a:ext cx="1371600" cy="1371600"/>
          </a:xfrm>
          <a:prstGeom prst="ellipse">
            <a:avLst/>
          </a:prstGeom>
          <a:solidFill>
            <a:srgbClr val="161D3F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3" name="Image 0" descr="./icons/award-p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556" y="1092708"/>
            <a:ext cx="1014984" cy="10149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06040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truth. Every language.</a:t>
            </a:r>
            <a:endParaRPr lang="en-US" sz="36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included.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4114800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Verity AI — built end-to-end during the Claude Code Hackathon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5120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esltech.vercel.app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5321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github.com/usermanoj/verity-ai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851</Words>
  <Application>Microsoft Office PowerPoint</Application>
  <PresentationFormat>Widescreen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Verity AI — Hackathon Pitch Deck</dc:title>
  <dc:subject>PptxGenJS Presentation</dc:subject>
  <dc:creator>Verity AI</dc:creator>
  <cp:lastModifiedBy>Manoj Bhardwaj</cp:lastModifiedBy>
  <cp:revision>2</cp:revision>
  <dcterms:created xsi:type="dcterms:W3CDTF">2026-07-12T09:30:25Z</dcterms:created>
  <dcterms:modified xsi:type="dcterms:W3CDTF">2026-07-12T09:35:40Z</dcterms:modified>
</cp:coreProperties>
</file>